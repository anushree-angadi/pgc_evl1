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9FF"/>
    <a:srgbClr val="FFFFFF"/>
    <a:srgbClr val="E3C9FF"/>
    <a:srgbClr val="D7B3FF"/>
    <a:srgbClr val="CD9B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93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0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le 53"/>
          <p:cNvSpPr/>
          <p:nvPr/>
        </p:nvSpPr>
        <p:spPr>
          <a:xfrm>
            <a:off x="8302752" y="914400"/>
            <a:ext cx="3383280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C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305" y="-374903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b="1" kern="0" spc="15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&amp; GPU COMPUTING  •  LAB EVALUATION</a:t>
            </a:r>
            <a:endParaRPr lang="en-US" sz="94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 Sum &amp;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933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of Dataset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8833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7953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OpenMP</a:t>
            </a:r>
            <a:endParaRPr lang="en-US" sz="35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35295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parallelism  •  Shared-memory threads  •  Performance benchmarking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91363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comparison of sequential and parallel sum/average calculations across dataset sizes and thread counts.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16059" y="5074920"/>
            <a:ext cx="2543463" cy="932688"/>
          </a:xfrm>
          <a:prstGeom prst="roundRect">
            <a:avLst>
              <a:gd name="adj" fmla="val 7843"/>
            </a:avLst>
          </a:prstGeom>
          <a:solidFill>
            <a:srgbClr val="EBD9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531153" y="5123707"/>
            <a:ext cx="2068951" cy="6522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/>
              <a:t>Anupriya Savant</a:t>
            </a:r>
          </a:p>
          <a:p>
            <a:pPr marL="0" indent="0" algn="l">
              <a:buNone/>
            </a:pPr>
            <a:r>
              <a:rPr lang="en-US" sz="1500" b="1" dirty="0"/>
              <a:t>01FE24BCI046</a:t>
            </a:r>
          </a:p>
        </p:txBody>
      </p:sp>
      <p:sp>
        <p:nvSpPr>
          <p:cNvPr id="43" name="Shape 41"/>
          <p:cNvSpPr/>
          <p:nvPr/>
        </p:nvSpPr>
        <p:spPr>
          <a:xfrm>
            <a:off x="3130951" y="5084065"/>
            <a:ext cx="2543463" cy="932688"/>
          </a:xfrm>
          <a:prstGeom prst="roundRect">
            <a:avLst>
              <a:gd name="adj" fmla="val 7843"/>
            </a:avLst>
          </a:prstGeom>
          <a:solidFill>
            <a:srgbClr val="EBD9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3312367" y="5477069"/>
            <a:ext cx="1884784" cy="1464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F2938"/>
                </a:solidFill>
                <a:latin typeface="Aptos" pitchFamily="34" charset="0"/>
              </a:rPr>
              <a:t>Pavitra Jalibenchi</a:t>
            </a:r>
          </a:p>
          <a:p>
            <a:r>
              <a:rPr lang="en-US" sz="1500" b="1" dirty="0"/>
              <a:t>01FE24BCI049</a:t>
            </a:r>
            <a:endParaRPr lang="en-US" sz="1500" b="1" dirty="0">
              <a:solidFill>
                <a:srgbClr val="2F2938"/>
              </a:solidFill>
              <a:latin typeface="Aptos" pitchFamily="34" charset="0"/>
            </a:endParaRPr>
          </a:p>
          <a:p>
            <a:pPr marL="0" indent="0" algn="l">
              <a:buNone/>
            </a:pPr>
            <a:endParaRPr lang="en-US" sz="1500" b="1" dirty="0"/>
          </a:p>
        </p:txBody>
      </p:sp>
      <p:sp>
        <p:nvSpPr>
          <p:cNvPr id="47" name="Shape 45"/>
          <p:cNvSpPr/>
          <p:nvPr/>
        </p:nvSpPr>
        <p:spPr>
          <a:xfrm>
            <a:off x="5945844" y="5145786"/>
            <a:ext cx="2543464" cy="861822"/>
          </a:xfrm>
          <a:prstGeom prst="roundRect">
            <a:avLst>
              <a:gd name="adj" fmla="val 7843"/>
            </a:avLst>
          </a:prstGeom>
          <a:solidFill>
            <a:srgbClr val="EBD9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r>
              <a:rPr lang="en-US" sz="1500" b="1" dirty="0"/>
              <a:t>Anushree Angadi</a:t>
            </a:r>
          </a:p>
          <a:p>
            <a:r>
              <a:rPr lang="en-US" sz="1500" b="1" dirty="0"/>
              <a:t>01FE24BCI050</a:t>
            </a:r>
          </a:p>
        </p:txBody>
      </p:sp>
      <p:sp>
        <p:nvSpPr>
          <p:cNvPr id="51" name="Shape 49"/>
          <p:cNvSpPr/>
          <p:nvPr/>
        </p:nvSpPr>
        <p:spPr>
          <a:xfrm>
            <a:off x="566928" y="6510528"/>
            <a:ext cx="11064240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1365992" y="6556248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60" dirty="0"/>
          </a:p>
        </p:txBody>
      </p:sp>
      <p:sp>
        <p:nvSpPr>
          <p:cNvPr id="17" name="Shape 41">
            <a:extLst>
              <a:ext uri="{FF2B5EF4-FFF2-40B4-BE49-F238E27FC236}">
                <a16:creationId xmlns:a16="http://schemas.microsoft.com/office/drawing/2014/main" id="{5F07B53F-B755-42C0-3BBD-65E2274611DB}"/>
              </a:ext>
            </a:extLst>
          </p:cNvPr>
          <p:cNvSpPr/>
          <p:nvPr/>
        </p:nvSpPr>
        <p:spPr>
          <a:xfrm>
            <a:off x="8760738" y="5110353"/>
            <a:ext cx="2543463" cy="861822"/>
          </a:xfrm>
          <a:prstGeom prst="roundRect">
            <a:avLst>
              <a:gd name="adj" fmla="val 7843"/>
            </a:avLst>
          </a:prstGeom>
          <a:solidFill>
            <a:srgbClr val="EBD9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r>
              <a:rPr lang="en-US" sz="1500" b="1" dirty="0"/>
              <a:t>Sahana Awaradi</a:t>
            </a:r>
          </a:p>
          <a:p>
            <a:r>
              <a:rPr lang="en-US" sz="1500" b="1" dirty="0"/>
              <a:t>01FE24BCI030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30352" y="201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135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1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Definition, Algorithm &amp; Parallel Design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simple O(N) loop to shared-memory parallel sum and average.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22392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144768" y="1325880"/>
            <a:ext cx="5541264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49808" y="157276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PROBLEM &amp; SEQUENTIAL ALGORITHM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84708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sum and average of a generated dataset D = [1, 2, …, N].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4956048" cy="1993392"/>
          </a:xfrm>
          <a:prstGeom prst="rect">
            <a:avLst/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60120" y="2706624"/>
            <a:ext cx="44988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data[i] = i + 1  for i = 0 … N−1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= 0 … N−1: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sum + data[i]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sum / 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" y="4663440"/>
            <a:ext cx="2340864" cy="813816"/>
          </a:xfrm>
          <a:prstGeom prst="roundRect">
            <a:avLst>
              <a:gd name="adj" fmla="val 8989"/>
            </a:avLst>
          </a:prstGeom>
          <a:solidFill>
            <a:srgbClr val="F4F0F8"/>
          </a:solidFill>
          <a:ln w="10160">
            <a:solidFill>
              <a:srgbClr val="2A49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14400" y="47731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967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1091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N(N + 1) /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55264" y="4663440"/>
            <a:ext cx="2432304" cy="813816"/>
          </a:xfrm>
          <a:prstGeom prst="roundRect">
            <a:avLst>
              <a:gd name="adj" fmla="val 8989"/>
            </a:avLst>
          </a:prstGeom>
          <a:solidFill>
            <a:srgbClr val="F4F0F8"/>
          </a:solidFill>
          <a:ln w="10160">
            <a:solidFill>
              <a:srgbClr val="2A49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429000" y="47731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5010912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 + 1) / 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5724144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Complexity: O(N) time  •  O(N) storage</a:t>
            </a:r>
            <a:endParaRPr lang="en-US" sz="107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57276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•  PARALLEL DESIGN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array element contributes independently to the total sum.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2377440"/>
            <a:ext cx="5010912" cy="950976"/>
          </a:xfrm>
          <a:prstGeom prst="rect">
            <a:avLst/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611112" y="2551176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795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reduction(+:par_sum)</a:t>
            </a:r>
            <a:endParaRPr lang="en-US" sz="122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2862072"/>
            <a:ext cx="4590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distributes loop iterations; reduction combines partial sums safely.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657600"/>
            <a:ext cx="1097280" cy="813816"/>
          </a:xfrm>
          <a:prstGeom prst="roundRect">
            <a:avLst>
              <a:gd name="adj" fmla="val 8989"/>
            </a:avLst>
          </a:prstGeom>
          <a:solidFill>
            <a:srgbClr val="F4F0F8"/>
          </a:solidFill>
          <a:ln w="10160">
            <a:solidFill>
              <a:srgbClr val="BF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3794760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087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… 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507224" y="388620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62672" y="3657600"/>
            <a:ext cx="1097280" cy="813816"/>
          </a:xfrm>
          <a:prstGeom prst="roundRect">
            <a:avLst>
              <a:gd name="adj" fmla="val 8989"/>
            </a:avLst>
          </a:prstGeom>
          <a:solidFill>
            <a:srgbClr val="F4F0F8"/>
          </a:solidFill>
          <a:ln w="10160">
            <a:solidFill>
              <a:srgbClr val="BF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717536" y="3794760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08392" y="4087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sums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769096" y="388620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924544" y="3657600"/>
            <a:ext cx="1097280" cy="813816"/>
          </a:xfrm>
          <a:prstGeom prst="roundRect">
            <a:avLst>
              <a:gd name="adj" fmla="val 8989"/>
            </a:avLst>
          </a:prstGeom>
          <a:solidFill>
            <a:srgbClr val="F4F0F8"/>
          </a:solidFill>
          <a:ln w="10160">
            <a:solidFill>
              <a:srgbClr val="92D1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8979408" y="3794760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970264" y="4087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030968" y="3886200"/>
            <a:ext cx="146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186416" y="3657600"/>
            <a:ext cx="1097280" cy="813816"/>
          </a:xfrm>
          <a:prstGeom prst="roundRect">
            <a:avLst>
              <a:gd name="adj" fmla="val 8989"/>
            </a:avLst>
          </a:prstGeom>
          <a:solidFill>
            <a:srgbClr val="F4F0F8"/>
          </a:solidFill>
          <a:ln w="1016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0241280" y="3794760"/>
            <a:ext cx="987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232136" y="4087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/ 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28232" y="4828032"/>
            <a:ext cx="68580" cy="68580"/>
          </a:xfrm>
          <a:prstGeom prst="ellipse">
            <a:avLst/>
          </a:prstGeom>
          <a:solidFill>
            <a:srgbClr val="B9E9DA"/>
          </a:solidFill>
          <a:ln w="12700">
            <a:solidFill>
              <a:srgbClr val="92D1C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6592824" y="4736592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Threads write to private reduction accumulators; OpenMP combines them at the end.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28232" y="5367528"/>
            <a:ext cx="68580" cy="68580"/>
          </a:xfrm>
          <a:prstGeom prst="ellipse">
            <a:avLst/>
          </a:prstGeom>
          <a:solidFill>
            <a:srgbClr val="E7DDF6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6592824" y="5276088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input and formula are used for sequential and parallel runs.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5797296"/>
            <a:ext cx="5010912" cy="356616"/>
          </a:xfrm>
          <a:prstGeom prst="roundRect">
            <a:avLst>
              <a:gd name="adj" fmla="val 20513"/>
            </a:avLst>
          </a:prstGeom>
          <a:solidFill>
            <a:srgbClr val="DDF2EC"/>
          </a:solidFill>
          <a:ln w="10160">
            <a:solidFill>
              <a:srgbClr val="35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6547104" y="5843016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 •  Independent iterations → parallelizable work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48" name="Text 46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49" name="Text 47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30352" y="201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135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Parallel Implementation &amp; Environment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calculation stays the same; OpenMP controls how the loop is executed.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053328" cy="4956048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766560" y="1325880"/>
            <a:ext cx="4919472" cy="4956048"/>
          </a:xfrm>
          <a:prstGeom prst="roundRect">
            <a:avLst>
              <a:gd name="adj" fmla="val 1487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49808" y="157276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IMPLEMENTATION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185623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baseline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731520" y="2139696"/>
            <a:ext cx="5577840" cy="1051560"/>
          </a:xfrm>
          <a:prstGeom prst="rect">
            <a:avLst/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41832" y="2295144"/>
            <a:ext cx="5184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seq_sum = 0;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 = 0; i &lt; N; i++)</a:t>
            </a:r>
            <a:endParaRPr lang="en-US" sz="1270" dirty="0"/>
          </a:p>
          <a:p>
            <a:pPr marL="0" indent="0" algn="l">
              <a:buNone/>
            </a:pPr>
            <a:r>
              <a:rPr lang="en-US" sz="127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seq_sum += data[i];</a:t>
            </a:r>
            <a:endParaRPr lang="en-US" sz="127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4015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parallel sum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31520" y="3685032"/>
            <a:ext cx="5577840" cy="1673352"/>
          </a:xfrm>
          <a:prstGeom prst="rect">
            <a:avLst/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32688" y="3831336"/>
            <a:ext cx="523036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long par_sum = 0;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omp_set_num_threads(threads);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reduction(+:par_sum)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(long long i = 0; i &lt; N; i++)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par_sum += data[i];</a:t>
            </a:r>
            <a:endParaRPr lang="en-US" sz="1180" dirty="0"/>
          </a:p>
          <a:p>
            <a:pPr marL="0" indent="0" algn="l">
              <a:buNone/>
            </a:pPr>
            <a:r>
              <a:rPr lang="en-US" sz="1180" dirty="0">
                <a:solidFill>
                  <a:srgbClr val="3B3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average = (double)par_sum / N;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40664" y="5559552"/>
            <a:ext cx="5568696" cy="475488"/>
          </a:xfrm>
          <a:prstGeom prst="roundRect">
            <a:avLst>
              <a:gd name="adj" fmla="val 15385"/>
            </a:avLst>
          </a:prstGeom>
          <a:solidFill>
            <a:srgbClr val="DDF2EC"/>
          </a:solidFill>
          <a:ln w="10160">
            <a:solidFill>
              <a:srgbClr val="35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77824" y="56509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Reduction safely combines thread-local partial sums.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15727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9967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&amp;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22592" y="1874520"/>
            <a:ext cx="4407408" cy="1033272"/>
          </a:xfrm>
          <a:prstGeom prst="rect">
            <a:avLst/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2376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240280"/>
            <a:ext cx="39867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953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-O2 -fopenmp sum_average.c -o sum_average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22592" y="3017520"/>
            <a:ext cx="4407408" cy="621792"/>
          </a:xfrm>
          <a:prstGeom prst="rect">
            <a:avLst/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7223760" y="3108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3319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./sum_average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387705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ENVIRONMENT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59168" y="4242816"/>
            <a:ext cx="68580" cy="68580"/>
          </a:xfrm>
          <a:prstGeom prst="ellipse">
            <a:avLst/>
          </a:prstGeom>
          <a:solidFill>
            <a:srgbClr val="E7DDF6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7223760" y="415137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running under VMware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59168" y="4608576"/>
            <a:ext cx="68580" cy="68580"/>
          </a:xfrm>
          <a:prstGeom prst="ellipse">
            <a:avLst/>
          </a:prstGeom>
          <a:solidFill>
            <a:srgbClr val="DCCFF0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23760" y="4517136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GCC compiler with OpenMP enabled by -fopenmp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59168" y="5102352"/>
            <a:ext cx="68580" cy="68580"/>
          </a:xfrm>
          <a:prstGeom prst="ellipse">
            <a:avLst/>
          </a:prstGeom>
          <a:solidFill>
            <a:srgbClr val="B9E9DA"/>
          </a:solidFill>
          <a:ln w="12700">
            <a:solidFill>
              <a:srgbClr val="92D1C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223760" y="5010912"/>
            <a:ext cx="4087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 + Matplotlib for plotting the recorded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22592" y="5623560"/>
            <a:ext cx="4407408" cy="438912"/>
          </a:xfrm>
          <a:prstGeom prst="roundRect">
            <a:avLst>
              <a:gd name="adj" fmla="val 16667"/>
            </a:avLst>
          </a:prstGeom>
          <a:solidFill>
            <a:srgbClr val="F4EFF8"/>
          </a:solidFill>
          <a:ln w="10160">
            <a:solidFill>
              <a:srgbClr val="2D47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7196328" y="570585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sizes: 100K • 1M • 10M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30352" y="201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135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3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 &amp; Results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dataset sizes × 6 thread counts, plus one sequential baseline per dataset.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2011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08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21208" y="1325880"/>
            <a:ext cx="359359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67512" y="1435608"/>
            <a:ext cx="3300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SIZES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664208"/>
            <a:ext cx="3300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  •  1,000,000  •  10,000,000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315968" y="1325880"/>
            <a:ext cx="3575304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462272" y="1435608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COUNTS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1664208"/>
            <a:ext cx="3282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•  2  •  4  •  8  •  16  •  32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101584" y="13258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47888" y="1435608"/>
            <a:ext cx="3273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CHECK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1664208"/>
            <a:ext cx="3273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and average matched expected values</a:t>
            </a:r>
            <a:endParaRPr lang="en-US" sz="1040" dirty="0"/>
          </a:p>
        </p:txBody>
      </p:sp>
      <p:sp>
        <p:nvSpPr>
          <p:cNvPr id="16" name="Text 14"/>
          <p:cNvSpPr txBox="1"/>
          <p:nvPr/>
        </p:nvSpPr>
        <p:spPr>
          <a:xfrm>
            <a:off x="557784" y="2176272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time (seconds): sequential baseline vs. OpenMP thread count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459736"/>
            <a:ext cx="1051560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85216" y="2496312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1600200" y="2459736"/>
            <a:ext cx="1097280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1636776" y="2496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seq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2697480" y="2459736"/>
            <a:ext cx="1481328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734056" y="249631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thread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178808" y="2459736"/>
            <a:ext cx="1481328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4215384" y="249631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threads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660136" y="2459736"/>
            <a:ext cx="1481328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696712" y="249631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threads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7141464" y="2459736"/>
            <a:ext cx="1481328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7178040" y="249631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threads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8622792" y="2459736"/>
            <a:ext cx="1481328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8659368" y="249631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threads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10104120" y="2459736"/>
            <a:ext cx="1481328" cy="457200"/>
          </a:xfrm>
          <a:prstGeom prst="rect">
            <a:avLst/>
          </a:prstGeom>
          <a:solidFill>
            <a:srgbClr val="E6DDF1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10140696" y="249631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threads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48640" y="2916936"/>
            <a:ext cx="1051560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585216" y="295351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100K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1600200" y="2916936"/>
            <a:ext cx="1097280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1636776" y="295351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0.000086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2697480" y="291693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2734056" y="2953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0.000095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4178808" y="291693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4215384" y="2953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0.000470</a:t>
            </a:r>
            <a:endParaRPr lang="en-US" sz="1140" dirty="0"/>
          </a:p>
        </p:txBody>
      </p:sp>
      <p:sp>
        <p:nvSpPr>
          <p:cNvPr id="41" name="Shape 39"/>
          <p:cNvSpPr/>
          <p:nvPr/>
        </p:nvSpPr>
        <p:spPr>
          <a:xfrm>
            <a:off x="5660136" y="291693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96712" y="2953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0.002205</a:t>
            </a:r>
            <a:endParaRPr lang="en-US" sz="1140" dirty="0"/>
          </a:p>
        </p:txBody>
      </p:sp>
      <p:sp>
        <p:nvSpPr>
          <p:cNvPr id="43" name="Shape 41"/>
          <p:cNvSpPr/>
          <p:nvPr/>
        </p:nvSpPr>
        <p:spPr>
          <a:xfrm>
            <a:off x="7141464" y="291693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7178040" y="2953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0.001852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8622792" y="291693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8659368" y="2953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0.000628</a:t>
            </a:r>
            <a:endParaRPr lang="en-US" sz="1140" dirty="0"/>
          </a:p>
        </p:txBody>
      </p:sp>
      <p:sp>
        <p:nvSpPr>
          <p:cNvPr id="47" name="Shape 45"/>
          <p:cNvSpPr/>
          <p:nvPr/>
        </p:nvSpPr>
        <p:spPr>
          <a:xfrm>
            <a:off x="10104120" y="291693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10140696" y="295351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0.002468</a:t>
            </a:r>
            <a:endParaRPr lang="en-US" sz="1140" dirty="0"/>
          </a:p>
        </p:txBody>
      </p:sp>
      <p:sp>
        <p:nvSpPr>
          <p:cNvPr id="49" name="Shape 47"/>
          <p:cNvSpPr/>
          <p:nvPr/>
        </p:nvSpPr>
        <p:spPr>
          <a:xfrm>
            <a:off x="548640" y="3465576"/>
            <a:ext cx="1051560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585216" y="350215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1140" dirty="0"/>
          </a:p>
        </p:txBody>
      </p:sp>
      <p:sp>
        <p:nvSpPr>
          <p:cNvPr id="51" name="Shape 49"/>
          <p:cNvSpPr/>
          <p:nvPr/>
        </p:nvSpPr>
        <p:spPr>
          <a:xfrm>
            <a:off x="1600200" y="3465576"/>
            <a:ext cx="1097280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1636776" y="350215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0.001584</a:t>
            </a:r>
            <a:endParaRPr lang="en-US" sz="1140" dirty="0"/>
          </a:p>
        </p:txBody>
      </p:sp>
      <p:sp>
        <p:nvSpPr>
          <p:cNvPr id="53" name="Shape 51"/>
          <p:cNvSpPr/>
          <p:nvPr/>
        </p:nvSpPr>
        <p:spPr>
          <a:xfrm>
            <a:off x="2697480" y="3465576"/>
            <a:ext cx="1481328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2734056" y="35021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0.001218</a:t>
            </a:r>
            <a:endParaRPr lang="en-US" sz="1140" dirty="0"/>
          </a:p>
        </p:txBody>
      </p:sp>
      <p:sp>
        <p:nvSpPr>
          <p:cNvPr id="55" name="Shape 53"/>
          <p:cNvSpPr/>
          <p:nvPr/>
        </p:nvSpPr>
        <p:spPr>
          <a:xfrm>
            <a:off x="4178808" y="3465576"/>
            <a:ext cx="1481328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215384" y="35021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0.002829</a:t>
            </a:r>
            <a:endParaRPr lang="en-US" sz="1140" dirty="0"/>
          </a:p>
        </p:txBody>
      </p:sp>
      <p:sp>
        <p:nvSpPr>
          <p:cNvPr id="57" name="Shape 55"/>
          <p:cNvSpPr/>
          <p:nvPr/>
        </p:nvSpPr>
        <p:spPr>
          <a:xfrm>
            <a:off x="5660136" y="3465576"/>
            <a:ext cx="1481328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5696712" y="35021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0.003832</a:t>
            </a:r>
            <a:endParaRPr lang="en-US" sz="1140" dirty="0"/>
          </a:p>
        </p:txBody>
      </p:sp>
      <p:sp>
        <p:nvSpPr>
          <p:cNvPr id="59" name="Shape 57"/>
          <p:cNvSpPr/>
          <p:nvPr/>
        </p:nvSpPr>
        <p:spPr>
          <a:xfrm>
            <a:off x="7141464" y="3465576"/>
            <a:ext cx="1481328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7178040" y="35021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0.001441</a:t>
            </a:r>
            <a:endParaRPr lang="en-US" sz="1140" dirty="0"/>
          </a:p>
        </p:txBody>
      </p:sp>
      <p:sp>
        <p:nvSpPr>
          <p:cNvPr id="61" name="Shape 59"/>
          <p:cNvSpPr/>
          <p:nvPr/>
        </p:nvSpPr>
        <p:spPr>
          <a:xfrm>
            <a:off x="8622792" y="3465576"/>
            <a:ext cx="1481328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8659368" y="35021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0.000858</a:t>
            </a:r>
            <a:endParaRPr lang="en-US" sz="1140" dirty="0"/>
          </a:p>
        </p:txBody>
      </p:sp>
      <p:sp>
        <p:nvSpPr>
          <p:cNvPr id="63" name="Shape 61"/>
          <p:cNvSpPr/>
          <p:nvPr/>
        </p:nvSpPr>
        <p:spPr>
          <a:xfrm>
            <a:off x="10104120" y="3465576"/>
            <a:ext cx="1481328" cy="548640"/>
          </a:xfrm>
          <a:prstGeom prst="rect">
            <a:avLst/>
          </a:prstGeom>
          <a:solidFill>
            <a:srgbClr val="F5F1F9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10140696" y="350215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0.001614</a:t>
            </a:r>
            <a:endParaRPr lang="en-US" sz="1140" dirty="0"/>
          </a:p>
        </p:txBody>
      </p:sp>
      <p:sp>
        <p:nvSpPr>
          <p:cNvPr id="65" name="Shape 63"/>
          <p:cNvSpPr/>
          <p:nvPr/>
        </p:nvSpPr>
        <p:spPr>
          <a:xfrm>
            <a:off x="548640" y="4014216"/>
            <a:ext cx="1051560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85216" y="4050792"/>
            <a:ext cx="978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10M</a:t>
            </a:r>
            <a:endParaRPr lang="en-US" sz="1140" dirty="0"/>
          </a:p>
        </p:txBody>
      </p:sp>
      <p:sp>
        <p:nvSpPr>
          <p:cNvPr id="67" name="Shape 65"/>
          <p:cNvSpPr/>
          <p:nvPr/>
        </p:nvSpPr>
        <p:spPr>
          <a:xfrm>
            <a:off x="1600200" y="4014216"/>
            <a:ext cx="1097280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1636776" y="4050792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0.006908</a:t>
            </a:r>
            <a:endParaRPr lang="en-US" sz="1140" dirty="0"/>
          </a:p>
        </p:txBody>
      </p:sp>
      <p:sp>
        <p:nvSpPr>
          <p:cNvPr id="69" name="Shape 67"/>
          <p:cNvSpPr/>
          <p:nvPr/>
        </p:nvSpPr>
        <p:spPr>
          <a:xfrm>
            <a:off x="2697480" y="401421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2734056" y="40507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0.007549</a:t>
            </a:r>
            <a:endParaRPr lang="en-US" sz="1140" dirty="0"/>
          </a:p>
        </p:txBody>
      </p:sp>
      <p:sp>
        <p:nvSpPr>
          <p:cNvPr id="71" name="Shape 69"/>
          <p:cNvSpPr/>
          <p:nvPr/>
        </p:nvSpPr>
        <p:spPr>
          <a:xfrm>
            <a:off x="4178808" y="401421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4215384" y="40507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0.004033</a:t>
            </a:r>
            <a:endParaRPr lang="en-US" sz="1140" dirty="0"/>
          </a:p>
        </p:txBody>
      </p:sp>
      <p:sp>
        <p:nvSpPr>
          <p:cNvPr id="73" name="Shape 71"/>
          <p:cNvSpPr/>
          <p:nvPr/>
        </p:nvSpPr>
        <p:spPr>
          <a:xfrm>
            <a:off x="5660136" y="4014216"/>
            <a:ext cx="1481328" cy="548640"/>
          </a:xfrm>
          <a:prstGeom prst="rect">
            <a:avLst/>
          </a:prstGeom>
          <a:solidFill>
            <a:srgbClr val="D2ECE5"/>
          </a:solidFill>
          <a:ln w="8255">
            <a:solidFill>
              <a:srgbClr val="258B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 txBox="1"/>
          <p:nvPr/>
        </p:nvSpPr>
        <p:spPr>
          <a:xfrm>
            <a:off x="5660136" y="4014216"/>
            <a:ext cx="1517904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0.002608</a:t>
            </a:r>
            <a:endParaRPr lang="en-US" sz="1140" dirty="0"/>
          </a:p>
        </p:txBody>
      </p:sp>
      <p:sp>
        <p:nvSpPr>
          <p:cNvPr id="75" name="Shape 73"/>
          <p:cNvSpPr/>
          <p:nvPr/>
        </p:nvSpPr>
        <p:spPr>
          <a:xfrm>
            <a:off x="7141464" y="401421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 txBox="1"/>
          <p:nvPr/>
        </p:nvSpPr>
        <p:spPr>
          <a:xfrm>
            <a:off x="7178040" y="40507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0.003126</a:t>
            </a:r>
            <a:endParaRPr lang="en-US" sz="1140" dirty="0"/>
          </a:p>
        </p:txBody>
      </p:sp>
      <p:sp>
        <p:nvSpPr>
          <p:cNvPr id="77" name="Shape 75"/>
          <p:cNvSpPr/>
          <p:nvPr/>
        </p:nvSpPr>
        <p:spPr>
          <a:xfrm>
            <a:off x="8622792" y="401421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8659368" y="40507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0.003807</a:t>
            </a:r>
            <a:endParaRPr lang="en-US" sz="1140" dirty="0"/>
          </a:p>
        </p:txBody>
      </p:sp>
      <p:sp>
        <p:nvSpPr>
          <p:cNvPr id="79" name="Shape 77"/>
          <p:cNvSpPr/>
          <p:nvPr/>
        </p:nvSpPr>
        <p:spPr>
          <a:xfrm>
            <a:off x="10104120" y="4014216"/>
            <a:ext cx="1481328" cy="548640"/>
          </a:xfrm>
          <a:prstGeom prst="rect">
            <a:avLst/>
          </a:prstGeom>
          <a:solidFill>
            <a:srgbClr val="FFFFFF"/>
          </a:solidFill>
          <a:ln w="8255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 txBox="1"/>
          <p:nvPr/>
        </p:nvSpPr>
        <p:spPr>
          <a:xfrm>
            <a:off x="10140696" y="4050792"/>
            <a:ext cx="1408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0.004357</a:t>
            </a:r>
            <a:endParaRPr lang="en-US" sz="1140" dirty="0"/>
          </a:p>
        </p:txBody>
      </p:sp>
      <p:sp>
        <p:nvSpPr>
          <p:cNvPr id="81" name="Shape 79"/>
          <p:cNvSpPr/>
          <p:nvPr/>
        </p:nvSpPr>
        <p:spPr>
          <a:xfrm>
            <a:off x="548640" y="4873752"/>
            <a:ext cx="5376672" cy="585216"/>
          </a:xfrm>
          <a:prstGeom prst="roundRect">
            <a:avLst>
              <a:gd name="adj" fmla="val 12500"/>
            </a:avLst>
          </a:prstGeom>
          <a:solidFill>
            <a:srgbClr val="EEE7F6"/>
          </a:solidFill>
          <a:ln w="10160">
            <a:solidFill>
              <a:srgbClr val="C7B5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 txBox="1"/>
          <p:nvPr/>
        </p:nvSpPr>
        <p:spPr>
          <a:xfrm>
            <a:off x="740664" y="5010912"/>
            <a:ext cx="4983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 = Tseq / Tparallel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062472" y="4873752"/>
            <a:ext cx="5623560" cy="585216"/>
          </a:xfrm>
          <a:prstGeom prst="roundRect">
            <a:avLst>
              <a:gd name="adj" fmla="val 12500"/>
            </a:avLst>
          </a:prstGeom>
          <a:solidFill>
            <a:srgbClr val="EEE7F6"/>
          </a:solidFill>
          <a:ln w="10160">
            <a:solidFill>
              <a:srgbClr val="C7B5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6236208" y="5010912"/>
            <a:ext cx="5285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(%) = (Speedup / threads) × 100</a:t>
            </a:r>
            <a:endParaRPr lang="en-US" sz="1280" dirty="0"/>
          </a:p>
        </p:txBody>
      </p:sp>
      <p:sp>
        <p:nvSpPr>
          <p:cNvPr id="85" name="Shape 83"/>
          <p:cNvSpPr/>
          <p:nvPr/>
        </p:nvSpPr>
        <p:spPr>
          <a:xfrm>
            <a:off x="548640" y="5596128"/>
            <a:ext cx="11137392" cy="612648"/>
          </a:xfrm>
          <a:prstGeom prst="roundRect">
            <a:avLst>
              <a:gd name="adj" fmla="val 11940"/>
            </a:avLst>
          </a:prstGeom>
          <a:noFill/>
          <a:ln w="10160">
            <a:solidFill>
              <a:srgbClr val="35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 txBox="1"/>
          <p:nvPr/>
        </p:nvSpPr>
        <p:spPr>
          <a:xfrm>
            <a:off x="749808" y="5733288"/>
            <a:ext cx="10735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OBSERVED: 10M elements • 4 threads • 0.002608 s parallel vs 0.006908 s sequential • 2.6485× speedup</a:t>
            </a:r>
            <a:endParaRPr lang="en-US" sz="1220" dirty="0"/>
          </a:p>
        </p:txBody>
      </p:sp>
      <p:sp>
        <p:nvSpPr>
          <p:cNvPr id="87" name="Shape 85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89" name="Text 87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90" name="Text 88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30352" y="201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135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4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Graphs: Execution Time &amp; Speedup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execution time is not monotonic: overhead and available CPU resources affect scaling.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353312"/>
            <a:ext cx="5596128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3443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199632" y="1353312"/>
            <a:ext cx="5504688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34435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image(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99032"/>
            <a:ext cx="5486400" cy="3639312"/>
          </a:xfrm>
          <a:prstGeom prst="rect">
            <a:avLst/>
          </a:prstGeom>
          <a:ln/>
        </p:spPr>
      </p:pic>
      <p:pic>
        <p:nvPicPr>
          <p:cNvPr id="10" name="Image 1" descr="/mnt/data/image(9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399032"/>
            <a:ext cx="5394960" cy="3566160"/>
          </a:xfrm>
          <a:prstGeom prst="rect">
            <a:avLst/>
          </a:prstGeom>
          <a:ln/>
        </p:spPr>
      </p:pic>
      <p:sp>
        <p:nvSpPr>
          <p:cNvPr id="11" name="Shape 7"/>
          <p:cNvSpPr/>
          <p:nvPr/>
        </p:nvSpPr>
        <p:spPr>
          <a:xfrm>
            <a:off x="502920" y="5330952"/>
            <a:ext cx="555955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676656" y="54498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TIME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76656" y="5669280"/>
            <a:ext cx="5193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10M elements, 4 threads gave the lowest measured OpenMP time: 0.002608 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5330952"/>
            <a:ext cx="546811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/>
          <p:cNvSpPr txBox="1"/>
          <p:nvPr/>
        </p:nvSpPr>
        <p:spPr>
          <a:xfrm>
            <a:off x="6391656" y="544982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9967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391656" y="5669280"/>
            <a:ext cx="5102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observed speedup: 2.6485× at 10M elements with 4 threads.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19" name="Text 15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30352" y="201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135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4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 Analysis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indicates how effectively the parallel run uses the selected thread count.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353312"/>
            <a:ext cx="6830568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34435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mnt/data/image(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99032"/>
            <a:ext cx="6739128" cy="4471416"/>
          </a:xfrm>
          <a:prstGeom prst="rect">
            <a:avLst/>
          </a:prstGeom>
          <a:ln/>
        </p:spPr>
      </p:pic>
      <p:sp>
        <p:nvSpPr>
          <p:cNvPr id="9" name="Shape 6"/>
          <p:cNvSpPr/>
          <p:nvPr/>
        </p:nvSpPr>
        <p:spPr>
          <a:xfrm>
            <a:off x="7479792" y="1353312"/>
            <a:ext cx="4215384" cy="4553712"/>
          </a:xfrm>
          <a:prstGeom prst="roundRect">
            <a:avLst>
              <a:gd name="adj" fmla="val 1735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7735824" y="161848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OBSERVED RUN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735824" y="18836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237B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2.65×</a:t>
            </a:r>
            <a:endParaRPr lang="en-US" sz="3700" dirty="0"/>
          </a:p>
        </p:txBody>
      </p:sp>
      <p:sp>
        <p:nvSpPr>
          <p:cNvPr id="12" name="Text 9"/>
          <p:cNvSpPr txBox="1"/>
          <p:nvPr/>
        </p:nvSpPr>
        <p:spPr>
          <a:xfrm>
            <a:off x="9573768" y="20756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35824" y="2624328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10M elements  •  4 threads  •  66.21% efficiency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7717536" y="3099816"/>
            <a:ext cx="3739896" cy="0"/>
          </a:xfrm>
          <a:prstGeom prst="line">
            <a:avLst/>
          </a:prstGeom>
          <a:noFill/>
          <a:ln w="889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735824" y="32461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INTERPRET THE GRAPH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744968" y="3630168"/>
            <a:ext cx="68580" cy="68580"/>
          </a:xfrm>
          <a:prstGeom prst="ellipse">
            <a:avLst/>
          </a:prstGeom>
          <a:solidFill>
            <a:srgbClr val="E7DDF6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909560" y="3538728"/>
            <a:ext cx="3465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workloads pay proportionally more thread-management overhead.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7744968" y="4133088"/>
            <a:ext cx="68580" cy="68580"/>
          </a:xfrm>
          <a:prstGeom prst="ellipse">
            <a:avLst/>
          </a:prstGeom>
          <a:solidFill>
            <a:srgbClr val="DCCFF0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7909560" y="4041648"/>
            <a:ext cx="3465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10M, performance improved up to 4 threads, then declined in this run.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7744968" y="4636008"/>
            <a:ext cx="68580" cy="68580"/>
          </a:xfrm>
          <a:prstGeom prst="ellipse">
            <a:avLst/>
          </a:prstGeom>
          <a:solidFill>
            <a:srgbClr val="FBECC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7909560" y="4544568"/>
            <a:ext cx="3465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 / 1-thread efficiency exceeds 100% because the single measured OpenMP time was below its sequential baseline.</a:t>
            </a:r>
            <a:endParaRPr lang="en-US" sz="990" dirty="0"/>
          </a:p>
        </p:txBody>
      </p:sp>
      <p:sp>
        <p:nvSpPr>
          <p:cNvPr id="22" name="Shape 19"/>
          <p:cNvSpPr/>
          <p:nvPr/>
        </p:nvSpPr>
        <p:spPr>
          <a:xfrm>
            <a:off x="7626096" y="5015484"/>
            <a:ext cx="3712464" cy="393192"/>
          </a:xfrm>
          <a:prstGeom prst="roundRect">
            <a:avLst>
              <a:gd name="adj" fmla="val 18605"/>
            </a:avLst>
          </a:prstGeom>
          <a:solidFill>
            <a:srgbClr val="FCF1D8"/>
          </a:solidFill>
          <a:ln w="10160">
            <a:solidFill>
              <a:srgbClr val="775B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7779258" y="5084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9967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Single-run timings → repeat 3–5 times and average</a:t>
            </a:r>
            <a:endParaRPr lang="en-US" sz="980" dirty="0"/>
          </a:p>
        </p:txBody>
      </p:sp>
      <p:sp>
        <p:nvSpPr>
          <p:cNvPr id="24" name="Text 21"/>
          <p:cNvSpPr txBox="1"/>
          <p:nvPr/>
        </p:nvSpPr>
        <p:spPr>
          <a:xfrm>
            <a:off x="7687818" y="55824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(%) = (Speedup / thread count) × 100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Terminal Output for the Three Dataset Sizes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from the Ubuntu runs supplied for this presentation.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" y="1389888"/>
            <a:ext cx="3621024" cy="4800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67512" y="15727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 ELEMENTS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2648" y="1847088"/>
            <a:ext cx="3419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0" descr="/mnt/data/image(1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865376"/>
            <a:ext cx="3383280" cy="1609344"/>
          </a:xfrm>
          <a:prstGeom prst="rect">
            <a:avLst/>
          </a:prstGeom>
          <a:ln/>
        </p:spPr>
      </p:pic>
      <p:sp>
        <p:nvSpPr>
          <p:cNvPr id="11" name="Shape 8"/>
          <p:cNvSpPr/>
          <p:nvPr/>
        </p:nvSpPr>
        <p:spPr>
          <a:xfrm>
            <a:off x="676656" y="3685032"/>
            <a:ext cx="3291840" cy="0"/>
          </a:xfrm>
          <a:prstGeom prst="line">
            <a:avLst/>
          </a:prstGeom>
          <a:noFill/>
          <a:ln w="889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" y="38404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OUTPUT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" y="41148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344168" y="411480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5,000,050,000</a:t>
            </a:r>
            <a:endParaRPr lang="en-US" sz="106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448056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344168" y="44805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50,000.50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676656" y="485546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baseline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2029968" y="4855464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0.000086 s</a:t>
            </a:r>
            <a:endParaRPr lang="en-US" sz="1070" dirty="0"/>
          </a:p>
        </p:txBody>
      </p:sp>
      <p:sp>
        <p:nvSpPr>
          <p:cNvPr id="19" name="Text 16"/>
          <p:cNvSpPr txBox="1"/>
          <p:nvPr/>
        </p:nvSpPr>
        <p:spPr>
          <a:xfrm>
            <a:off x="676656" y="532180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OpenMP thread rows produced the same sum and average.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4288536" y="1389888"/>
            <a:ext cx="3621024" cy="4800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4443984" y="15727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1,000,000 ELEMENTS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389120" y="1847088"/>
            <a:ext cx="3419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1" descr="/mnt/data/image(20261011-114605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865376"/>
            <a:ext cx="3383280" cy="1609344"/>
          </a:xfrm>
          <a:prstGeom prst="rect">
            <a:avLst/>
          </a:prstGeom>
          <a:ln/>
        </p:spPr>
      </p:pic>
      <p:sp>
        <p:nvSpPr>
          <p:cNvPr id="24" name="Shape 20"/>
          <p:cNvSpPr/>
          <p:nvPr/>
        </p:nvSpPr>
        <p:spPr>
          <a:xfrm>
            <a:off x="4453128" y="3685032"/>
            <a:ext cx="3291840" cy="0"/>
          </a:xfrm>
          <a:prstGeom prst="line">
            <a:avLst/>
          </a:prstGeom>
          <a:noFill/>
          <a:ln w="889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 txBox="1"/>
          <p:nvPr/>
        </p:nvSpPr>
        <p:spPr>
          <a:xfrm>
            <a:off x="4453128" y="38404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OUTPUT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4453128" y="41148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1080" dirty="0"/>
          </a:p>
        </p:txBody>
      </p:sp>
      <p:sp>
        <p:nvSpPr>
          <p:cNvPr id="27" name="Text 23"/>
          <p:cNvSpPr txBox="1"/>
          <p:nvPr/>
        </p:nvSpPr>
        <p:spPr>
          <a:xfrm>
            <a:off x="5120640" y="411480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500,000,500,000</a:t>
            </a:r>
            <a:endParaRPr lang="en-US" sz="1060" dirty="0"/>
          </a:p>
        </p:txBody>
      </p:sp>
      <p:sp>
        <p:nvSpPr>
          <p:cNvPr id="28" name="Text 24"/>
          <p:cNvSpPr txBox="1"/>
          <p:nvPr/>
        </p:nvSpPr>
        <p:spPr>
          <a:xfrm>
            <a:off x="4453128" y="448056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1080" dirty="0"/>
          </a:p>
        </p:txBody>
      </p:sp>
      <p:sp>
        <p:nvSpPr>
          <p:cNvPr id="29" name="Text 25"/>
          <p:cNvSpPr txBox="1"/>
          <p:nvPr/>
        </p:nvSpPr>
        <p:spPr>
          <a:xfrm>
            <a:off x="5120640" y="44805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500,000.50</a:t>
            </a:r>
            <a:endParaRPr lang="en-US" sz="1080" dirty="0"/>
          </a:p>
        </p:txBody>
      </p:sp>
      <p:sp>
        <p:nvSpPr>
          <p:cNvPr id="30" name="Text 26"/>
          <p:cNvSpPr txBox="1"/>
          <p:nvPr/>
        </p:nvSpPr>
        <p:spPr>
          <a:xfrm>
            <a:off x="4453128" y="485546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baseline</a:t>
            </a:r>
            <a:endParaRPr lang="en-US" sz="1020" dirty="0"/>
          </a:p>
        </p:txBody>
      </p:sp>
      <p:sp>
        <p:nvSpPr>
          <p:cNvPr id="31" name="Text 27"/>
          <p:cNvSpPr txBox="1"/>
          <p:nvPr/>
        </p:nvSpPr>
        <p:spPr>
          <a:xfrm>
            <a:off x="5806440" y="4855464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0.001584 s</a:t>
            </a:r>
            <a:endParaRPr lang="en-US" sz="1070" dirty="0"/>
          </a:p>
        </p:txBody>
      </p:sp>
      <p:sp>
        <p:nvSpPr>
          <p:cNvPr id="32" name="Text 28"/>
          <p:cNvSpPr txBox="1"/>
          <p:nvPr/>
        </p:nvSpPr>
        <p:spPr>
          <a:xfrm>
            <a:off x="4453128" y="532180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OpenMP thread rows produced the same sum and average.</a:t>
            </a:r>
            <a:endParaRPr lang="en-US" sz="1010" dirty="0"/>
          </a:p>
        </p:txBody>
      </p:sp>
      <p:sp>
        <p:nvSpPr>
          <p:cNvPr id="33" name="Shape 29"/>
          <p:cNvSpPr/>
          <p:nvPr/>
        </p:nvSpPr>
        <p:spPr>
          <a:xfrm>
            <a:off x="8065008" y="1389888"/>
            <a:ext cx="3621024" cy="48006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 txBox="1"/>
          <p:nvPr/>
        </p:nvSpPr>
        <p:spPr>
          <a:xfrm>
            <a:off x="8220456" y="157276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10,000,000 ELEMENTS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8165592" y="1847088"/>
            <a:ext cx="3419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2" descr="/mnt/data/image(20261011-114617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865376"/>
            <a:ext cx="3383280" cy="1609344"/>
          </a:xfrm>
          <a:prstGeom prst="rect">
            <a:avLst/>
          </a:prstGeom>
          <a:ln/>
        </p:spPr>
      </p:pic>
      <p:sp>
        <p:nvSpPr>
          <p:cNvPr id="37" name="Shape 32"/>
          <p:cNvSpPr/>
          <p:nvPr/>
        </p:nvSpPr>
        <p:spPr>
          <a:xfrm>
            <a:off x="8229600" y="3685032"/>
            <a:ext cx="3291840" cy="0"/>
          </a:xfrm>
          <a:prstGeom prst="line">
            <a:avLst/>
          </a:prstGeom>
          <a:noFill/>
          <a:ln w="889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3"/>
          <p:cNvSpPr txBox="1"/>
          <p:nvPr/>
        </p:nvSpPr>
        <p:spPr>
          <a:xfrm>
            <a:off x="8229600" y="38404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OUTPUT</a:t>
            </a:r>
            <a:endParaRPr lang="en-US" sz="800" dirty="0"/>
          </a:p>
        </p:txBody>
      </p:sp>
      <p:sp>
        <p:nvSpPr>
          <p:cNvPr id="39" name="Text 34"/>
          <p:cNvSpPr txBox="1"/>
          <p:nvPr/>
        </p:nvSpPr>
        <p:spPr>
          <a:xfrm>
            <a:off x="8229600" y="41148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</a:t>
            </a:r>
            <a:endParaRPr lang="en-US" sz="1080" dirty="0"/>
          </a:p>
        </p:txBody>
      </p:sp>
      <p:sp>
        <p:nvSpPr>
          <p:cNvPr id="40" name="Text 35"/>
          <p:cNvSpPr txBox="1"/>
          <p:nvPr/>
        </p:nvSpPr>
        <p:spPr>
          <a:xfrm>
            <a:off x="8897112" y="411480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50,000,005,000,000</a:t>
            </a:r>
            <a:endParaRPr lang="en-US" sz="1060" dirty="0"/>
          </a:p>
        </p:txBody>
      </p:sp>
      <p:sp>
        <p:nvSpPr>
          <p:cNvPr id="41" name="Text 36"/>
          <p:cNvSpPr txBox="1"/>
          <p:nvPr/>
        </p:nvSpPr>
        <p:spPr>
          <a:xfrm>
            <a:off x="8229600" y="448056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1080" dirty="0"/>
          </a:p>
        </p:txBody>
      </p:sp>
      <p:sp>
        <p:nvSpPr>
          <p:cNvPr id="42" name="Text 37"/>
          <p:cNvSpPr txBox="1"/>
          <p:nvPr/>
        </p:nvSpPr>
        <p:spPr>
          <a:xfrm>
            <a:off x="8897112" y="448056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5,000,000.50</a:t>
            </a:r>
            <a:endParaRPr lang="en-US" sz="1080" dirty="0"/>
          </a:p>
        </p:txBody>
      </p:sp>
      <p:sp>
        <p:nvSpPr>
          <p:cNvPr id="43" name="Text 38"/>
          <p:cNvSpPr txBox="1"/>
          <p:nvPr/>
        </p:nvSpPr>
        <p:spPr>
          <a:xfrm>
            <a:off x="8229600" y="485546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baseline</a:t>
            </a:r>
            <a:endParaRPr lang="en-US" sz="1020" dirty="0"/>
          </a:p>
        </p:txBody>
      </p:sp>
      <p:sp>
        <p:nvSpPr>
          <p:cNvPr id="44" name="Text 39"/>
          <p:cNvSpPr txBox="1"/>
          <p:nvPr/>
        </p:nvSpPr>
        <p:spPr>
          <a:xfrm>
            <a:off x="9582912" y="4855464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70" b="1" dirty="0">
                <a:solidFill>
                  <a:srgbClr val="237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0.006908 s</a:t>
            </a:r>
            <a:endParaRPr lang="en-US" sz="1070" dirty="0"/>
          </a:p>
        </p:txBody>
      </p:sp>
      <p:sp>
        <p:nvSpPr>
          <p:cNvPr id="45" name="Text 40"/>
          <p:cNvSpPr txBox="1"/>
          <p:nvPr/>
        </p:nvSpPr>
        <p:spPr>
          <a:xfrm>
            <a:off x="8229600" y="532180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OpenMP thread rows produced the same sum and average.</a:t>
            </a:r>
            <a:endParaRPr lang="en-US" sz="1010" dirty="0"/>
          </a:p>
        </p:txBody>
      </p:sp>
      <p:sp>
        <p:nvSpPr>
          <p:cNvPr id="46" name="Shape 41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2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48" name="Text 43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49" name="Text 44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B"/>
          </a:solidFill>
          <a:ln w="12700">
            <a:solidFill>
              <a:srgbClr val="E5DD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30352" y="201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135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5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429768"/>
            <a:ext cx="10927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F29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Conclusion, Final Demonstration &amp; Technical Viva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findings, limitations, and a simple run-through for the final evaluation.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556869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45352" y="1344168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58952" y="158191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DDF2EC"/>
          </a:solidFill>
          <a:ln w="10160">
            <a:solidFill>
              <a:srgbClr val="357F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68680" y="1984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237B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2.6485×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377440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SPEEDUP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441448" y="1856232"/>
            <a:ext cx="1581912" cy="841248"/>
          </a:xfrm>
          <a:prstGeom prst="roundRect">
            <a:avLst>
              <a:gd name="adj" fmla="val 8696"/>
            </a:avLst>
          </a:prstGeom>
          <a:solidFill>
            <a:srgbClr val="EEE7F6"/>
          </a:solidFill>
          <a:ln w="10160">
            <a:solidFill>
              <a:srgbClr val="C7B5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551176" y="2002536"/>
            <a:ext cx="1362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threads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551176" y="2377440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10M DATASET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133088" y="1856232"/>
            <a:ext cx="1673352" cy="841248"/>
          </a:xfrm>
          <a:prstGeom prst="roundRect">
            <a:avLst>
              <a:gd name="adj" fmla="val 8696"/>
            </a:avLst>
          </a:prstGeom>
          <a:solidFill>
            <a:srgbClr val="F7EACB"/>
          </a:solidFill>
          <a:ln w="10160">
            <a:solidFill>
              <a:srgbClr val="775B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261104" y="19842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9967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66.21%</a:t>
            </a:r>
            <a:endParaRPr lang="en-US" sz="205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23774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77240" y="3063240"/>
            <a:ext cx="68580" cy="68580"/>
          </a:xfrm>
          <a:prstGeom prst="ellipse">
            <a:avLst/>
          </a:prstGeom>
          <a:solidFill>
            <a:srgbClr val="B9E9DA"/>
          </a:solidFill>
          <a:ln w="12700">
            <a:solidFill>
              <a:srgbClr val="92D1C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941832" y="2971800"/>
            <a:ext cx="4818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dataset sizes produced the expected sum and average.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493008"/>
            <a:ext cx="68580" cy="68580"/>
          </a:xfrm>
          <a:prstGeom prst="ellipse">
            <a:avLst/>
          </a:prstGeom>
          <a:solidFill>
            <a:srgbClr val="E7DDF6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941832" y="3401568"/>
            <a:ext cx="4818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10M elements, 4 threads reduced measured time from 0.006908 s to 0.002608 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069080"/>
            <a:ext cx="68580" cy="68580"/>
          </a:xfrm>
          <a:prstGeom prst="ellipse">
            <a:avLst/>
          </a:prstGeom>
          <a:solidFill>
            <a:srgbClr val="DCCFF0"/>
          </a:solidFill>
          <a:ln w="12700">
            <a:solidFill>
              <a:srgbClr val="BFA7D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941832" y="3977640"/>
            <a:ext cx="4818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threads did not always improve runtime; overhead and timing variation matter.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4608576"/>
            <a:ext cx="5056632" cy="0"/>
          </a:xfrm>
          <a:prstGeom prst="line">
            <a:avLst/>
          </a:prstGeom>
          <a:noFill/>
          <a:ln w="889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68096" y="47914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9967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 / NEXT STEP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" y="5065776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configuration was measured once, and the times are very short. Repeat 3–5 runs per configuration and report the mean or median for more reliable benchmarking.</a:t>
            </a:r>
            <a:endParaRPr lang="en-US" sz="1120" dirty="0"/>
          </a:p>
        </p:txBody>
      </p:sp>
      <p:sp>
        <p:nvSpPr>
          <p:cNvPr id="28" name="Text 26"/>
          <p:cNvSpPr txBox="1"/>
          <p:nvPr/>
        </p:nvSpPr>
        <p:spPr>
          <a:xfrm>
            <a:off x="6501384" y="1581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852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DEMO PLAN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10528" y="1892808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675120" y="2029968"/>
            <a:ext cx="310896" cy="310896"/>
          </a:xfrm>
          <a:prstGeom prst="ellipse">
            <a:avLst/>
          </a:prstGeom>
          <a:solidFill>
            <a:srgbClr val="EEE7F6"/>
          </a:solidFill>
          <a:ln w="13970">
            <a:solidFill>
              <a:srgbClr val="BF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675120" y="203911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196596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</a:t>
            </a:r>
            <a:endParaRPr lang="en-US" sz="112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22037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25B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-O2 -fopenmp sum_average.c -o sum_average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510528" y="2606040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675120" y="2743200"/>
            <a:ext cx="310896" cy="310896"/>
          </a:xfrm>
          <a:prstGeom prst="ellipse">
            <a:avLst/>
          </a:prstGeom>
          <a:solidFill>
            <a:srgbClr val="EEE7F6"/>
          </a:solidFill>
          <a:ln w="13970">
            <a:solidFill>
              <a:srgbClr val="BF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75120" y="2752344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267919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large dataset</a:t>
            </a:r>
            <a:endParaRPr lang="en-US" sz="112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29169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N = 10000000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510528" y="3319272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675120" y="3456432"/>
            <a:ext cx="310896" cy="310896"/>
          </a:xfrm>
          <a:prstGeom prst="ellipse">
            <a:avLst/>
          </a:prstGeom>
          <a:solidFill>
            <a:srgbClr val="EEE7F6"/>
          </a:solidFill>
          <a:ln w="13970">
            <a:solidFill>
              <a:srgbClr val="BF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6675120" y="3465576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3392424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correctness</a:t>
            </a:r>
            <a:endParaRPr lang="en-US" sz="112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36301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matching sum and average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6510528" y="4032504"/>
            <a:ext cx="4892040" cy="621792"/>
          </a:xfrm>
          <a:prstGeom prst="roundRect">
            <a:avLst>
              <a:gd name="adj" fmla="val 11765"/>
            </a:avLst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675120" y="4169664"/>
            <a:ext cx="310896" cy="310896"/>
          </a:xfrm>
          <a:prstGeom prst="ellipse">
            <a:avLst/>
          </a:prstGeom>
          <a:solidFill>
            <a:srgbClr val="EEE7F6"/>
          </a:solidFill>
          <a:ln w="13970">
            <a:solidFill>
              <a:srgbClr val="BFA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6675120" y="4178808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4105656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F29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performance</a:t>
            </a:r>
            <a:endParaRPr lang="en-US" sz="1120" dirty="0"/>
          </a:p>
        </p:txBody>
      </p:sp>
      <p:sp>
        <p:nvSpPr>
          <p:cNvPr id="48" name="Text 46"/>
          <p:cNvSpPr txBox="1"/>
          <p:nvPr/>
        </p:nvSpPr>
        <p:spPr>
          <a:xfrm>
            <a:off x="7132320" y="4343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to time, speedup, efficiency graphs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6510528" y="4855464"/>
            <a:ext cx="4892040" cy="0"/>
          </a:xfrm>
          <a:prstGeom prst="line">
            <a:avLst/>
          </a:prstGeom>
          <a:noFill/>
          <a:ln w="889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6510528" y="50109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VIVA QUICK ANSWERS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519672" y="5276088"/>
            <a:ext cx="4782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reduction(+:par_sum): combines each thread’s partial sum safely.</a:t>
            </a:r>
            <a:endParaRPr lang="en-US" sz="1010" dirty="0"/>
          </a:p>
        </p:txBody>
      </p:sp>
      <p:sp>
        <p:nvSpPr>
          <p:cNvPr id="52" name="Text 50"/>
          <p:cNvSpPr txBox="1"/>
          <p:nvPr/>
        </p:nvSpPr>
        <p:spPr>
          <a:xfrm>
            <a:off x="6519672" y="5614416"/>
            <a:ext cx="4782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625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Speedup = sequential time ÷ parallel time. Scaling is limited by overhead, CPU availability, and measurement variability.</a:t>
            </a:r>
            <a:endParaRPr lang="en-US" sz="1010" dirty="0"/>
          </a:p>
        </p:txBody>
      </p:sp>
      <p:sp>
        <p:nvSpPr>
          <p:cNvPr id="53" name="Shape 51"/>
          <p:cNvSpPr/>
          <p:nvPr/>
        </p:nvSpPr>
        <p:spPr>
          <a:xfrm>
            <a:off x="502920" y="6510528"/>
            <a:ext cx="11192256" cy="0"/>
          </a:xfrm>
          <a:prstGeom prst="line">
            <a:avLst/>
          </a:prstGeom>
          <a:noFill/>
          <a:ln w="7620">
            <a:solidFill>
              <a:srgbClr val="D4C8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21208" y="65653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KLE TECHNOLOGICAL UNIVERSITY  •  COMPUTER SCIENCE (AI)</a:t>
            </a:r>
            <a:endParaRPr lang="en-US" sz="710" dirty="0"/>
          </a:p>
        </p:txBody>
      </p:sp>
      <p:sp>
        <p:nvSpPr>
          <p:cNvPr id="55" name="Text 53"/>
          <p:cNvSpPr txBox="1"/>
          <p:nvPr/>
        </p:nvSpPr>
        <p:spPr>
          <a:xfrm>
            <a:off x="7589520" y="6565392"/>
            <a:ext cx="3611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kern="0" spc="40" dirty="0">
                <a:solidFill>
                  <a:srgbClr val="766D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OPENMP  •  SUM / AVERAGE</a:t>
            </a:r>
            <a:endParaRPr lang="en-US" sz="710" dirty="0"/>
          </a:p>
        </p:txBody>
      </p:sp>
      <p:sp>
        <p:nvSpPr>
          <p:cNvPr id="56" name="Text 54"/>
          <p:cNvSpPr txBox="1"/>
          <p:nvPr/>
        </p:nvSpPr>
        <p:spPr>
          <a:xfrm>
            <a:off x="11430000" y="65562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795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2F68C3-37F2-1167-F929-F410520ECC23}"/>
              </a:ext>
            </a:extLst>
          </p:cNvPr>
          <p:cNvSpPr txBox="1"/>
          <p:nvPr/>
        </p:nvSpPr>
        <p:spPr>
          <a:xfrm>
            <a:off x="4917232" y="3041779"/>
            <a:ext cx="2607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Bell MT" panose="02020503060305020303" pitchFamily="18" charset="0"/>
              </a:rPr>
              <a:t>THANKYOU</a:t>
            </a:r>
          </a:p>
        </p:txBody>
      </p:sp>
      <p:sp>
        <p:nvSpPr>
          <p:cNvPr id="6" name="Shape 32">
            <a:extLst>
              <a:ext uri="{FF2B5EF4-FFF2-40B4-BE49-F238E27FC236}">
                <a16:creationId xmlns:a16="http://schemas.microsoft.com/office/drawing/2014/main" id="{BED2D768-CA88-F482-89DA-7E898C43DE1D}"/>
              </a:ext>
            </a:extLst>
          </p:cNvPr>
          <p:cNvSpPr/>
          <p:nvPr/>
        </p:nvSpPr>
        <p:spPr>
          <a:xfrm>
            <a:off x="0" y="0"/>
            <a:ext cx="12192000" cy="6858001"/>
          </a:xfrm>
          <a:prstGeom prst="roundRect">
            <a:avLst>
              <a:gd name="adj" fmla="val 11765"/>
            </a:avLst>
          </a:prstGeom>
          <a:solidFill>
            <a:srgbClr val="F1EDF7"/>
          </a:solidFill>
          <a:ln w="10160">
            <a:solidFill>
              <a:srgbClr val="D4C8E2"/>
            </a:solidFill>
            <a:prstDash val="solid"/>
          </a:ln>
        </p:spPr>
        <p:txBody>
          <a:bodyPr/>
          <a:lstStyle/>
          <a:p>
            <a:r>
              <a:rPr lang="en-IN" b="1" dirty="0">
                <a:latin typeface="Bell MT" panose="02020503060305020303" pitchFamily="18" charset="0"/>
              </a:rPr>
              <a:t>                                                                             </a:t>
            </a: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endParaRPr lang="en-IN" b="1" dirty="0">
              <a:latin typeface="Bell MT" panose="02020503060305020303" pitchFamily="18" charset="0"/>
            </a:endParaRPr>
          </a:p>
          <a:p>
            <a:r>
              <a:rPr lang="en-IN" b="1" dirty="0">
                <a:latin typeface="Bell MT" panose="02020503060305020303" pitchFamily="18" charset="0"/>
              </a:rPr>
              <a:t>                                                                  </a:t>
            </a:r>
            <a:r>
              <a:rPr lang="en-IN" sz="4800" b="1" dirty="0">
                <a:latin typeface="Bell MT" panose="020205030603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1034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1136</Words>
  <Application>Microsoft Office PowerPoint</Application>
  <PresentationFormat>Widescreen</PresentationFormat>
  <Paragraphs>240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Bell MT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KLE Technological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Sum and Average of Dataset using OpenMP</dc:title>
  <dc:subject>Parallel Sum and Average of Dataset using OpenMP</dc:subject>
  <dc:creator>Anushree Angadi</dc:creator>
  <cp:lastModifiedBy>anushree angadi</cp:lastModifiedBy>
  <cp:revision>2</cp:revision>
  <dcterms:created xsi:type="dcterms:W3CDTF">2026-10-11T11:50:44Z</dcterms:created>
  <dcterms:modified xsi:type="dcterms:W3CDTF">2026-10-11T01:15:09Z</dcterms:modified>
</cp:coreProperties>
</file>